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E276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 panose="020B0604020202020204"/>
              </a:rPr>
              <a:t>Avg 12-Month Value per Customer (EUR)</a:t>
            </a:r>
            <a:endParaRPr sz="1300" b="0" i="0" u="none" strike="noStrike">
              <a:solidFill>
                <a:srgbClr val="1E276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12-Month Value (EUR)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1FF"/>
              </a:solidFill>
              <a:effectLst/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76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October</c:v>
                </c:pt>
                <c:pt idx="1">
                  <c:v>November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24.9</c:v>
                </c:pt>
                <c:pt idx="1">
                  <c:v>29.63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A6B8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A6B8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f585155-2fd9-4f0a-9a25-8bb611bb4ed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E276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 panose="020B0604020202020204"/>
              </a:rPr>
              <a:t>Avg 12-Month Value by Predicted PD Band (EUR)</a:t>
            </a:r>
            <a:endParaRPr sz="1300" b="0" i="0" u="none" strike="noStrike">
              <a:solidFill>
                <a:srgbClr val="1E276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12-Month Value (EUR)</c:v>
                </c:pt>
              </c:strCache>
            </c:strRef>
          </c:tx>
          <c:spPr>
            <a:solidFill>
              <a:srgbClr val="0091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91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1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91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76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0-5%</c:v>
                </c:pt>
                <c:pt idx="1">
                  <c:v>5-10%</c:v>
                </c:pt>
                <c:pt idx="2">
                  <c:v>10-15%</c:v>
                </c:pt>
                <c:pt idx="3">
                  <c:v>15-20%</c:v>
                </c:pt>
                <c:pt idx="4">
                  <c:v>20%+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78.08</c:v>
                </c:pt>
                <c:pt idx="1">
                  <c:v>32.14</c:v>
                </c:pt>
                <c:pt idx="2">
                  <c:v>15.26</c:v>
                </c:pt>
                <c:pt idx="3">
                  <c:v>-4.1</c:v>
                </c:pt>
                <c:pt idx="4">
                  <c:v>-24.1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A6B8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A6B8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0bf92db-981b-4d56-b127-7c8400b96f3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brief: two onboarding cohorts (Oct/Nov 2023), asked to review data quality, compare cohort performance, and assess whether the predicted default model segments performance as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4-step approach: data quality first (never trust an average before checking for placeholders/outliers), then cohort comparison, then segmentation - which is the core risk question - then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 via describe(): min/max values disconnected from the quartiles flagged income and credit limit. isna().sum() caught the missing PD score. value_counts() confirmed the 15000 credit limit appears only once vs hundreds for normal values, and the 99999s appear 9 times as an identical round number - a classic placeholder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November had more onboardings (3990 vs 3406) and a higher average 12-month value (EUR 29.63 vs EUR 24.90), despite a very slightly higher average predicted PD. Combined with volume, November contributed ~EUR 118k vs ~EUR 85k in total 12-month value. Caveat: Actual_Value_12Month is each customer's own 12-month window from their open date - so this is a fair cohort comparison, but the November cohort's window may not have fully matured depending on data extraction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Banded PredictedProbabilityOfDefault into 5 groups using pd.cut(). Average actual 12-month value falls from +78 EUR in the lowest-risk band to -24 EUR in the highest. This is exactly what you'd want to see - it validates the predictive model. The 15-20% and 20%+ bands together are about 1,091 customers (15% of the portfolio) and are net negative - worth reviewing initial line assignment policy for this segment.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concrete, business-relevant actions tied directly to the role's responsibilities: data governance, initial line assignment, and segment-level credit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Customer Onboarding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October vs November 2023- Credit Risk &amp; Performance Review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58400" y="4206240"/>
            <a:ext cx="1463040" cy="1463040"/>
          </a:xfrm>
          <a:prstGeom prst="ellipse">
            <a:avLst/>
          </a:prstGeom>
          <a:solidFill>
            <a:srgbClr val="0091FF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10972800" y="3657600"/>
            <a:ext cx="731520" cy="731520"/>
          </a:xfrm>
          <a:prstGeom prst="ellipse">
            <a:avLst/>
          </a:prstGeom>
          <a:solidFill>
            <a:srgbClr val="CADCFC">
              <a:alpha val="3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598805" y="5060315"/>
            <a:ext cx="7315200" cy="92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for: Credit Risk Team, Novum Bank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it-IT" alt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Presented By: Fares Menzli</a:t>
            </a:r>
            <a:endParaRPr lang="it-IT" altLang="en-US" sz="12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544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B9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 &amp; Quality Check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Reviewed shape, types, nulls and summary statistics to identify anomalies before drawing conclusions.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15544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B9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11880" y="224028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Cohort Comparison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306324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data by onboarding month (Oct vs Nov) and compared volume, risk, and 12-month value.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5544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B9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0" y="224028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Segmentation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06324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Banded customers by Predicted Probability of Default to test whether the risk model aligns with actual outcomes.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0684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89720" y="15544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B9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89720" y="224028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306324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Translated findings into practical actions for credit strategy and underwriting.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Tooling: Python (pandas) for analysis, cross-checked with Excel PivotTables for 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Quality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7,396 customer records reviewed - 4 issues identified before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1907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Risk Score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0" y="1719072"/>
            <a:ext cx="1005840" cy="365760"/>
          </a:xfrm>
          <a:prstGeom prst="roundRect">
            <a:avLst>
              <a:gd name="adj" fmla="val 125000"/>
            </a:avLst>
          </a:prstGeom>
          <a:solidFill>
            <a:srgbClr val="0091FF">
              <a:alpha val="15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4846320" y="1719072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record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record has no PredictedProbabilityOfDefault value (CustomerId 6049). Excluded from risk segmentation.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71907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"99999" Income Placeholder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469880" y="1719072"/>
            <a:ext cx="1005840" cy="365760"/>
          </a:xfrm>
          <a:prstGeom prst="roundRect">
            <a:avLst>
              <a:gd name="adj" fmla="val 125000"/>
            </a:avLst>
          </a:prstGeom>
          <a:solidFill>
            <a:srgbClr val="0091FF">
              <a:alpha val="15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10469880" y="1719072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records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customers show NetMonthlyIncome = 99999 - a classic system placeholder, far outside the normal range (avg ~EUR2,400). Likely "unknown income" code.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86791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Income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3867912"/>
            <a:ext cx="1005840" cy="365760"/>
          </a:xfrm>
          <a:prstGeom prst="roundRect">
            <a:avLst>
              <a:gd name="adj" fmla="val 125000"/>
            </a:avLst>
          </a:prstGeom>
          <a:solidFill>
            <a:srgbClr val="0091FF">
              <a:alpha val="15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4846320" y="3867912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record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34340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customer shows NetMonthlyIncome = -3,000. Physically impossible - likely a data entry error or another placeholder.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386791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Outlier Credit Limit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469880" y="3867912"/>
            <a:ext cx="1005840" cy="365760"/>
          </a:xfrm>
          <a:prstGeom prst="roundRect">
            <a:avLst>
              <a:gd name="adj" fmla="val 125000"/>
            </a:avLst>
          </a:prstGeom>
          <a:solidFill>
            <a:srgbClr val="0091FF">
              <a:alpha val="15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10469880" y="3867912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record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434340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customer has a CreditLimit of 15,000 - vs a 75th percentile of just 800 and the next-highest cluster at 2,000-3,000. </a:t>
            </a:r>
            <a:r>
              <a:rPr lang="it-IT" altLang="en-US" sz="12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likely 1500, recommend manual review</a:t>
            </a:r>
            <a:endParaRPr lang="it-IT" altLang="en-US" sz="1200" dirty="0">
              <a:solidFill>
                <a:srgbClr val="5A6B8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October vs November Cohorts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November is the stronger cohort - higher volume AND higher average 12-month value per customer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85470" y="1554480"/>
          <a:ext cx="5120640" cy="3669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5544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16459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Onboarded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63640" y="199339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Oct: </a:t>
            </a: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3,406</a:t>
            </a:r>
            <a:r>
              <a:rPr lang="en-US" sz="16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Nov: </a:t>
            </a:r>
            <a:r>
              <a:rPr lang="en-US" sz="1600" b="1" dirty="0">
                <a:solidFill>
                  <a:srgbClr val="009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3,990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35040" y="26974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27889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Predicted PD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313639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Oct: </a:t>
            </a: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9.95%</a:t>
            </a:r>
            <a:r>
              <a:rPr lang="en-US" sz="16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Nov: </a:t>
            </a:r>
            <a:r>
              <a:rPr lang="en-US" sz="1600" b="1" dirty="0">
                <a:solidFill>
                  <a:srgbClr val="009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10.08%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38404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63640" y="39319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Portfolio Value (12m)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63640" y="427939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Oct: </a:t>
            </a: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EUR 84,824</a:t>
            </a:r>
            <a:r>
              <a:rPr lang="en-US" sz="16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Nov: </a:t>
            </a:r>
            <a:r>
              <a:rPr lang="en-US" sz="1600" b="1" dirty="0">
                <a:solidFill>
                  <a:srgbClr val="009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EUR 118,205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Risk Segmentation: Does the Model Work?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12-month value falls almost monotonically as Predicted Probability of Default rises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83565" y="1463040"/>
          <a:ext cx="69494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162763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is well-calibrated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201168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predicted risk consistently maps to lower realized value - the 20%+ band is net loss-making on average.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329184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0" y="345643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~1,091 customers (15%)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0" y="384048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fall in the 15%+ PD bands where average value is negative - candidates for tighter initial credit limits or stricter affordability checks.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2B3470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00200"/>
            <a:ext cx="457200" cy="457200"/>
          </a:xfrm>
          <a:prstGeom prst="ellipse">
            <a:avLst/>
          </a:prstGeom>
          <a:solidFill>
            <a:srgbClr val="0091FF"/>
          </a:solidFill>
        </p:spPr>
      </p:sp>
      <p:sp>
        <p:nvSpPr>
          <p:cNvPr id="5" name="Text 3"/>
          <p:cNvSpPr/>
          <p:nvPr/>
        </p:nvSpPr>
        <p:spPr>
          <a:xfrm>
            <a:off x="868680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57276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 placeholder handling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Agree a consistent convention for 'unknown income' (99999 / negative values) across systems so it doesn't distort future affordability or income-based segmentation.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2B3470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600200"/>
            <a:ext cx="457200" cy="457200"/>
          </a:xfrm>
          <a:prstGeom prst="ellipse">
            <a:avLst/>
          </a:prstGeom>
          <a:solidFill>
            <a:srgbClr val="0091FF"/>
          </a:solidFill>
        </p:spPr>
      </p:sp>
      <p:sp>
        <p:nvSpPr>
          <p:cNvPr id="10" name="Text 8"/>
          <p:cNvSpPr/>
          <p:nvPr/>
        </p:nvSpPr>
        <p:spPr>
          <a:xfrm>
            <a:off x="6492240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157276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the 15,000 credit limit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extreme outlier vs a 75th percentile of 800 - confirm with underwriting whether this is a genuine high-value account or a data entry error.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2B3470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0091FF"/>
          </a:solidFill>
        </p:spPr>
      </p:sp>
      <p:sp>
        <p:nvSpPr>
          <p:cNvPr id="15" name="Text 13"/>
          <p:cNvSpPr/>
          <p:nvPr/>
        </p:nvSpPr>
        <p:spPr>
          <a:xfrm>
            <a:off x="868680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385876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Investigate the November uplift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43484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volume AND higher avg 12-month value - worth understanding if this reflects a marketing campaign, seasonal effect, or underwriting change, so it can be replicated.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576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2B3470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3886200"/>
            <a:ext cx="457200" cy="457200"/>
          </a:xfrm>
          <a:prstGeom prst="ellipse">
            <a:avLst/>
          </a:prstGeom>
          <a:solidFill>
            <a:srgbClr val="0091FF"/>
          </a:solidFill>
        </p:spPr>
      </p:sp>
      <p:sp>
        <p:nvSpPr>
          <p:cNvPr id="20" name="Text 18"/>
          <p:cNvSpPr/>
          <p:nvPr/>
        </p:nvSpPr>
        <p:spPr>
          <a:xfrm>
            <a:off x="6492240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385876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Tighten policy for PD 15%+ segment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443484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~15% of customers in this band are net loss-making on average. Consider lower initial credit limits or enhanced affordability checks at acquisition for this segment.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2937</Words>
  <Application>WPS Presentation</Application>
  <PresentationFormat>On-screen Show (16:9)</PresentationFormat>
  <Paragraphs>119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Onboarding Analysis - Oct/Nov 2023</dc:title>
  <dc:creator>Fares Menzli</dc:creator>
  <dc:subject>PptxGenJS Presentation</dc:subject>
  <cp:lastModifiedBy>fares</cp:lastModifiedBy>
  <cp:revision>2</cp:revision>
  <dcterms:created xsi:type="dcterms:W3CDTF">2026-06-13T16:40:00Z</dcterms:created>
  <dcterms:modified xsi:type="dcterms:W3CDTF">2026-06-13T17:24:54Z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04CAA7A8C05744A2B824A415CFE47C16_12</vt:lpwstr>
  </property>
</Properties>
</file>